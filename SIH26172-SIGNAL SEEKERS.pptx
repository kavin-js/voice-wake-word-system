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cispace.com/papers/a-510-nw-wake-up-keyword-spotting-chip-using-serial-fft-3z0ajwmcf3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l.acm.org/doi/10.1145/347436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711.07128" TargetMode="External"/><Relationship Id="rId5" Type="http://schemas.openxmlformats.org/officeDocument/2006/relationships/hyperlink" Target="https://www.sciencedirect.com/science/article/pii/S0925231226014268" TargetMode="External"/><Relationship Id="rId4" Type="http://schemas.openxmlformats.org/officeDocument/2006/relationships/hyperlink" Target="https://drive.google.com/drive/folders/1l-33g6C0824NwfXdUlr6JkJh5BJXL5c9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092731" y="180432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50699"/>
            <a:ext cx="9144000" cy="4255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LOW LATENCY AND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EFFICIENT VOICE    ACTIVATOR FOR EDGE DEVICES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SIGNAL SEEKERS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TinyML</a:t>
            </a: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Voice Activation for Edge IoT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8658" y="1075195"/>
            <a:ext cx="12113340" cy="2564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Wake-word + Command Detection Fully On-device On One ESP32-S3 Chip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>
                <a:latin typeface="Arial" pitchFamily="34" charset="0"/>
                <a:cs typeface="Arial" pitchFamily="34" charset="0"/>
              </a:rPr>
              <a:t>Zero Cloud, Zero Network Delay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, Zero Raw Audio Ever Leaves The Device</a:t>
            </a:r>
            <a:endParaRPr lang="en-US" sz="18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Novelty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: Joint Optimization Of </a:t>
            </a:r>
            <a:r>
              <a:rPr lang="en-US" sz="2000" b="1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ULTRA LOW LATENCY + POWER + ACCURACY + MEMORY</a:t>
            </a:r>
            <a:r>
              <a:rPr lang="en-US" sz="1800" b="1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In One Pipeline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8658" y="105061"/>
            <a:ext cx="164340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Seekers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255638" y="3552691"/>
            <a:ext cx="2807601" cy="73152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🎙  SPEAK</a:t>
            </a:r>
          </a:p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Say your custom wake word</a:t>
            </a:r>
          </a:p>
        </p:txBody>
      </p:sp>
      <p:sp>
        <p:nvSpPr>
          <p:cNvPr id="15364" name="Right Arrow 15363"/>
          <p:cNvSpPr/>
          <p:nvPr/>
        </p:nvSpPr>
        <p:spPr>
          <a:xfrm>
            <a:off x="3328845" y="3666128"/>
            <a:ext cx="613632" cy="504645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365" name="Rounded Rectangle 15364"/>
          <p:cNvSpPr/>
          <p:nvPr/>
        </p:nvSpPr>
        <p:spPr>
          <a:xfrm>
            <a:off x="4110129" y="3552691"/>
            <a:ext cx="2880360" cy="7315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🧠  DETECT ON-DEVICE</a:t>
            </a:r>
          </a:p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TinyML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KWS on ESP32-S3</a:t>
            </a:r>
          </a:p>
        </p:txBody>
      </p:sp>
      <p:sp>
        <p:nvSpPr>
          <p:cNvPr id="15366" name="Right Arrow 15365"/>
          <p:cNvSpPr/>
          <p:nvPr/>
        </p:nvSpPr>
        <p:spPr>
          <a:xfrm>
            <a:off x="7292340" y="3680281"/>
            <a:ext cx="599768" cy="515841"/>
          </a:xfrm>
          <a:prstGeom prst="rightArrow">
            <a:avLst>
              <a:gd name="adj1" fmla="val 50000"/>
              <a:gd name="adj2" fmla="val 29839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367" name="Rounded Rectangle 15366"/>
          <p:cNvSpPr/>
          <p:nvPr/>
        </p:nvSpPr>
        <p:spPr>
          <a:xfrm>
            <a:off x="8252460" y="3541967"/>
            <a:ext cx="2880360" cy="731520"/>
          </a:xfrm>
          <a:prstGeom prst="roundRect">
            <a:avLst>
              <a:gd name="adj" fmla="val 5914"/>
            </a:avLst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⚡  ACT INSTANTLY</a:t>
            </a:r>
          </a:p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Local command → IoT/GPIO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29773" y="4564746"/>
            <a:ext cx="9601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1" dirty="0">
                <a:solidFill>
                  <a:srgbClr val="C0504D"/>
                </a:solidFill>
                <a:latin typeface="Calibri"/>
              </a:rPr>
              <a:t>☁️  </a:t>
            </a:r>
            <a:r>
              <a:rPr sz="2800" b="1" i="1" dirty="0">
                <a:solidFill>
                  <a:srgbClr val="C0504D"/>
                </a:solidFill>
                <a:latin typeface="Calibri"/>
              </a:rPr>
              <a:t>No raw audio is ever transmitted to the cloud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441960" y="5170686"/>
            <a:ext cx="914400" cy="914400"/>
          </a:xfrm>
          <a:prstGeom prst="ellipse">
            <a:avLst/>
          </a:prstGeom>
          <a:solidFill>
            <a:srgbClr val="F796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dirty="0"/>
              <a:t>🔒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99160" y="5389921"/>
            <a:ext cx="2514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1F497D"/>
                </a:solidFill>
                <a:latin typeface="Calibri"/>
              </a:rPr>
              <a:t>PRIVATE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3328845" y="5139297"/>
            <a:ext cx="914400" cy="91440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dirty="0"/>
              <a:t>☁️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814626" y="5445161"/>
            <a:ext cx="2514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1F497D"/>
                </a:solidFill>
                <a:latin typeface="Calibri"/>
              </a:rPr>
              <a:t>CLOUD-FREE</a:t>
            </a:r>
          </a:p>
        </p:txBody>
      </p:sp>
      <p:sp>
        <p:nvSpPr>
          <p:cNvPr id="15373" name="Oval 15372"/>
          <p:cNvSpPr/>
          <p:nvPr/>
        </p:nvSpPr>
        <p:spPr>
          <a:xfrm>
            <a:off x="6478228" y="5132776"/>
            <a:ext cx="914400" cy="914400"/>
          </a:xfrm>
          <a:prstGeom prst="ellipse">
            <a:avLst/>
          </a:prstGeom>
          <a:solidFill>
            <a:srgbClr val="9BBB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dirty="0"/>
              <a:t>⚡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594900" y="5410502"/>
            <a:ext cx="2514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1F497D"/>
                </a:solidFill>
                <a:latin typeface="Calibri"/>
              </a:rPr>
              <a:t>FAST</a:t>
            </a:r>
          </a:p>
        </p:txBody>
      </p:sp>
      <p:sp>
        <p:nvSpPr>
          <p:cNvPr id="15375" name="Oval 15374"/>
          <p:cNvSpPr/>
          <p:nvPr/>
        </p:nvSpPr>
        <p:spPr>
          <a:xfrm>
            <a:off x="8922713" y="5149940"/>
            <a:ext cx="914400" cy="914400"/>
          </a:xfrm>
          <a:prstGeom prst="ellipse">
            <a:avLst/>
          </a:prstGeom>
          <a:solidFill>
            <a:srgbClr val="1F49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dirty="0"/>
              <a:t>🔋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9407504" y="5242554"/>
            <a:ext cx="25146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1F497D"/>
                </a:solidFill>
                <a:latin typeface="Calibri"/>
              </a:rPr>
              <a:t>EFFICIENT</a:t>
            </a:r>
            <a:r>
              <a:rPr lang="en-US" sz="2000" b="1" i="0" dirty="0">
                <a:solidFill>
                  <a:srgbClr val="1F497D"/>
                </a:solidFill>
                <a:latin typeface="Calibri"/>
              </a:rPr>
              <a:t>/</a:t>
            </a:r>
          </a:p>
          <a:p>
            <a:pPr algn="ctr"/>
            <a:r>
              <a:rPr lang="en-US" sz="2000" b="1" i="0" dirty="0">
                <a:solidFill>
                  <a:srgbClr val="1F497D"/>
                </a:solidFill>
                <a:latin typeface="Calibri"/>
              </a:rPr>
              <a:t>low power</a:t>
            </a:r>
            <a:endParaRPr sz="2000" b="1" i="0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AC73A-0331-3F03-B94E-58F12EDF0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 dirty="0">
                <a:solidFill>
                  <a:schemeClr val="bg1"/>
                </a:solidFill>
              </a:rPr>
              <a:t>                                                                                              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9600" y="288041"/>
            <a:ext cx="16362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Seekers 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42803F-396C-DCC3-E4ED-006F1CCBC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452" y="894735"/>
            <a:ext cx="3988116" cy="53880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52057F-CA3D-3F1D-D62F-31308EDCBB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08" t="15669" r="3345" b="8254"/>
          <a:stretch>
            <a:fillRect/>
          </a:stretch>
        </p:blipFill>
        <p:spPr>
          <a:xfrm>
            <a:off x="0" y="1095374"/>
            <a:ext cx="8217073" cy="36696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F357CB-5F39-E5CE-A7FA-DF6030A73205}"/>
              </a:ext>
            </a:extLst>
          </p:cNvPr>
          <p:cNvSpPr txBox="1"/>
          <p:nvPr/>
        </p:nvSpPr>
        <p:spPr>
          <a:xfrm>
            <a:off x="93240" y="4740912"/>
            <a:ext cx="78315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Listen intelligently… Process efficiently... Respond instantly…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Adaptive edge processing combines lightweight audio analysis, </a:t>
            </a:r>
            <a:r>
              <a:rPr lang="en-US" sz="2000" b="1" dirty="0" err="1"/>
              <a:t>TinyML</a:t>
            </a:r>
            <a:r>
              <a:rPr lang="en-US" sz="2000" b="1" dirty="0"/>
              <a:t> wake-word detection, and local command execution for fast, fully offline voice activation.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340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Seekers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F6351-3A40-9DCD-7914-8E75145E3A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353" b="9349"/>
          <a:stretch>
            <a:fillRect/>
          </a:stretch>
        </p:blipFill>
        <p:spPr>
          <a:xfrm>
            <a:off x="1" y="3260807"/>
            <a:ext cx="12191999" cy="3058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87DFFF-804D-CF8E-5FB9-997E15533396}"/>
              </a:ext>
            </a:extLst>
          </p:cNvPr>
          <p:cNvSpPr txBox="1"/>
          <p:nvPr/>
        </p:nvSpPr>
        <p:spPr>
          <a:xfrm>
            <a:off x="1973180" y="2763347"/>
            <a:ext cx="930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highlight>
                  <a:srgbClr val="C0C0C0"/>
                </a:highlight>
              </a:rPr>
              <a:t>How Latency And Resource Usage Is Reduced By Our Solution</a:t>
            </a:r>
            <a:endParaRPr lang="en-US" sz="2400"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156B0C53-6842-53C8-CC1B-5BC0179D5D3F}"/>
              </a:ext>
            </a:extLst>
          </p:cNvPr>
          <p:cNvSpPr/>
          <p:nvPr/>
        </p:nvSpPr>
        <p:spPr>
          <a:xfrm>
            <a:off x="912262" y="2854960"/>
            <a:ext cx="1060918" cy="27432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FF4F2D-A04B-CF35-BAD7-CC0A5FCFDD81}"/>
              </a:ext>
            </a:extLst>
          </p:cNvPr>
          <p:cNvSpPr txBox="1"/>
          <p:nvPr/>
        </p:nvSpPr>
        <p:spPr>
          <a:xfrm>
            <a:off x="718080" y="1186988"/>
            <a:ext cx="1106424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Readily Available Hardware:</a:t>
            </a:r>
            <a:r>
              <a:rPr lang="en-US" dirty="0"/>
              <a:t> ESP32-S3 + I2S MEMS microphone enables practical, low-cost implementation.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Open-Source &amp; Offline:</a:t>
            </a:r>
            <a:r>
              <a:rPr lang="en-US" dirty="0"/>
              <a:t> Uses open-source </a:t>
            </a:r>
            <a:r>
              <a:rPr lang="en-US" dirty="0" err="1"/>
              <a:t>TinyML</a:t>
            </a:r>
            <a:r>
              <a:rPr lang="en-US" dirty="0"/>
              <a:t> tools and requires </a:t>
            </a:r>
            <a:r>
              <a:rPr lang="en-US" b="1" dirty="0"/>
              <a:t>no cloud/API dependency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These directly support </a:t>
            </a:r>
            <a:r>
              <a:rPr lang="en-US" b="1" dirty="0"/>
              <a:t>feasibility and viability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064" y="846836"/>
            <a:ext cx="12191999" cy="205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600" b="1" dirty="0"/>
              <a:t>🚀 </a:t>
            </a:r>
            <a:r>
              <a:rPr lang="en-US" b="1" dirty="0" err="1"/>
              <a:t>Gaganyaan</a:t>
            </a:r>
            <a:r>
              <a:rPr lang="en-US" b="1" dirty="0"/>
              <a:t>: Potential hands-free onboard astronaut–system interaction.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🌕 Lunar/Planetary Missions: Local AI enables autonomous operation under communication constraints.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🛰️ Spacecraft &amp; Rovers: Low-power edge intelligence reduces communication load and enables faster onboard decisions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8713" y="90413"/>
            <a:ext cx="14027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Seekers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76BB5E-9AA5-7352-C98C-597C6C3425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9" t="15667" r="1329" b="3434"/>
          <a:stretch>
            <a:fillRect/>
          </a:stretch>
        </p:blipFill>
        <p:spPr>
          <a:xfrm>
            <a:off x="98712" y="2701308"/>
            <a:ext cx="11931224" cy="360432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C997D7-48C2-E4C2-0D96-22EFAA83AB56}"/>
              </a:ext>
            </a:extLst>
          </p:cNvPr>
          <p:cNvCxnSpPr/>
          <p:nvPr/>
        </p:nvCxnSpPr>
        <p:spPr>
          <a:xfrm>
            <a:off x="7559040" y="2701308"/>
            <a:ext cx="0" cy="360432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246C6-7A4B-7FE9-6B60-630730A219FE}"/>
              </a:ext>
            </a:extLst>
          </p:cNvPr>
          <p:cNvCxnSpPr/>
          <p:nvPr/>
        </p:nvCxnSpPr>
        <p:spPr>
          <a:xfrm>
            <a:off x="7559040" y="6305637"/>
            <a:ext cx="447089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0C7BB6-13C1-8E62-8195-B28EA247B2AC}"/>
              </a:ext>
            </a:extLst>
          </p:cNvPr>
          <p:cNvCxnSpPr/>
          <p:nvPr/>
        </p:nvCxnSpPr>
        <p:spPr>
          <a:xfrm>
            <a:off x="12029936" y="2701308"/>
            <a:ext cx="0" cy="360432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40D4CC-CD3B-0FFA-51EC-F54C1713073F}"/>
              </a:ext>
            </a:extLst>
          </p:cNvPr>
          <p:cNvCxnSpPr/>
          <p:nvPr/>
        </p:nvCxnSpPr>
        <p:spPr>
          <a:xfrm>
            <a:off x="7559040" y="2701308"/>
            <a:ext cx="447089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754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Seekers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48640" y="4434840"/>
            <a:ext cx="5486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F497D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1F497D"/>
                </a:solidFill>
                <a:latin typeface="Calibri"/>
              </a:rPr>
              <a:t>Key References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685800" y="4846320"/>
            <a:ext cx="274320" cy="27432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/>
              <a:t>•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143000" y="48280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Calibri"/>
              </a:rPr>
              <a:t>Espressif ESP32-S3 &amp; ESP-IDF documentation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85800" y="5193792"/>
            <a:ext cx="274320" cy="27432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/>
              <a:t>•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43000" y="51755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Calibri"/>
              </a:rPr>
              <a:t>TensorFlow Lite for Microcontrollers (TinyML)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685800" y="5541264"/>
            <a:ext cx="274320" cy="27432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/>
              <a:t>•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43000" y="552297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Calibri"/>
              </a:rPr>
              <a:t>microWakeWord — open-source wake-word framework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85800" y="5888736"/>
            <a:ext cx="274320" cy="27432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/>
              <a:t>•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143000" y="587044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 dirty="0">
                <a:solidFill>
                  <a:srgbClr val="2B2B2B"/>
                </a:solidFill>
                <a:latin typeface="Calibri"/>
              </a:rPr>
              <a:t>Research on </a:t>
            </a:r>
            <a:r>
              <a:rPr sz="1350" b="1" i="0" dirty="0" err="1">
                <a:solidFill>
                  <a:srgbClr val="2B2B2B"/>
                </a:solidFill>
                <a:latin typeface="Calibri"/>
              </a:rPr>
              <a:t>TinyML</a:t>
            </a:r>
            <a:r>
              <a:rPr sz="1350" b="1" i="0" dirty="0">
                <a:solidFill>
                  <a:srgbClr val="2B2B2B"/>
                </a:solidFill>
                <a:latin typeface="Calibri"/>
              </a:rPr>
              <a:t> keyword spotting &amp; Log-Mel features for MCUs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F3B5E-A7FA-F03A-B9E9-8BD550931A3F}"/>
              </a:ext>
            </a:extLst>
          </p:cNvPr>
          <p:cNvSpPr txBox="1"/>
          <p:nvPr/>
        </p:nvSpPr>
        <p:spPr>
          <a:xfrm>
            <a:off x="940390" y="945952"/>
            <a:ext cx="839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https://drive.google.com/drive/folders/1l-33g6C0824NwfXdUlr6JkJh5BJXL5c9?usp=sharing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C5B02-715D-CC78-4E5A-D49E345BE17D}"/>
              </a:ext>
            </a:extLst>
          </p:cNvPr>
          <p:cNvSpPr txBox="1"/>
          <p:nvPr/>
        </p:nvSpPr>
        <p:spPr>
          <a:xfrm>
            <a:off x="436453" y="1528502"/>
            <a:ext cx="11145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Advances in Small-Footprint Keyword Spotting for </a:t>
            </a:r>
            <a:r>
              <a:rPr lang="en-US" dirty="0" err="1"/>
              <a:t>TinyML</a:t>
            </a:r>
            <a:r>
              <a:rPr lang="en-US" dirty="0"/>
              <a:t>: A Comprehensive Review of Efficient Models and Algorithms           </a:t>
            </a:r>
          </a:p>
          <a:p>
            <a:pPr lvl="2"/>
            <a:r>
              <a:rPr lang="en-US" dirty="0"/>
              <a:t>     </a:t>
            </a:r>
            <a:r>
              <a:rPr lang="en-US" dirty="0">
                <a:hlinkClick r:id="rId5"/>
              </a:rPr>
              <a:t>https://www.sciencedirect.com/science/article/pii/S0925231226014268</a:t>
            </a:r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2935F-F824-3943-388B-C85D7E5C7743}"/>
              </a:ext>
            </a:extLst>
          </p:cNvPr>
          <p:cNvSpPr txBox="1"/>
          <p:nvPr/>
        </p:nvSpPr>
        <p:spPr>
          <a:xfrm>
            <a:off x="1319918" y="2423918"/>
            <a:ext cx="10535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Hello Edge: Keyword Spotting on Microcontrollers   </a:t>
            </a:r>
          </a:p>
          <a:p>
            <a:r>
              <a:rPr lang="en-US" dirty="0"/>
              <a:t>     </a:t>
            </a:r>
            <a:r>
              <a:rPr lang="en-US" dirty="0">
                <a:hlinkClick r:id="rId6"/>
              </a:rPr>
              <a:t>https://arxiv.org/abs/1711.07128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Acceleration for Embedded Keyword Spotting: Tutorial and Survey           </a:t>
            </a:r>
            <a:r>
              <a:rPr lang="en-US" dirty="0">
                <a:hlinkClick r:id="rId7"/>
              </a:rPr>
              <a:t>https://dl.acm.org/doi/10.1145/3474365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510-nW Wake-Up Keyword-Spotting Chip Using Serial-FFT-Based MFCC and Binarized </a:t>
            </a:r>
            <a:r>
              <a:rPr lang="en-US" dirty="0" err="1"/>
              <a:t>Depthwise</a:t>
            </a:r>
            <a:r>
              <a:rPr lang="en-US" dirty="0"/>
              <a:t> Separable CNN            </a:t>
            </a:r>
          </a:p>
          <a:p>
            <a:r>
              <a:rPr lang="en-US" dirty="0"/>
              <a:t>     </a:t>
            </a:r>
            <a:r>
              <a:rPr lang="en-US" dirty="0">
                <a:hlinkClick r:id="rId8"/>
              </a:rPr>
              <a:t>https://scispace.com/papers/a-510-nw-wake-up-keyword-spotting-chip-using-serial-fft-3z0ajwmcf3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7670</TotalTime>
  <Words>455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TinyML Voice Activation for Edge IoT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maha arivu</cp:lastModifiedBy>
  <cp:revision>150</cp:revision>
  <dcterms:created xsi:type="dcterms:W3CDTF">2013-12-12T18:46:50Z</dcterms:created>
  <dcterms:modified xsi:type="dcterms:W3CDTF">2026-09-05T10:59:58Z</dcterms:modified>
  <cp:category/>
</cp:coreProperties>
</file>